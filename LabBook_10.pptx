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0"/>
  </p:notesMasterIdLst>
  <p:handoutMasterIdLst>
    <p:handoutMasterId r:id="rId11"/>
  </p:handoutMasterIdLst>
  <p:sldIdLst>
    <p:sldId id="256" r:id="rId2"/>
    <p:sldId id="295" r:id="rId3"/>
    <p:sldId id="290" r:id="rId4"/>
    <p:sldId id="291" r:id="rId5"/>
    <p:sldId id="292" r:id="rId6"/>
    <p:sldId id="297" r:id="rId7"/>
    <p:sldId id="293" r:id="rId8"/>
    <p:sldId id="288" r:id="rId9"/>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38" autoAdjust="0"/>
    <p:restoredTop sz="95033" autoAdjust="0"/>
  </p:normalViewPr>
  <p:slideViewPr>
    <p:cSldViewPr>
      <p:cViewPr varScale="1">
        <p:scale>
          <a:sx n="159" d="100"/>
          <a:sy n="159" d="100"/>
        </p:scale>
        <p:origin x="1110" y="138"/>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15/03/2026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15/03/2026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9AA65-166B-474B-A6C9-9858D86A944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158223-A8BA-05F6-464C-EC03A9FB8C5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CB4DF-C329-8F47-9ECE-661B5B2BF9A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41B2276-A4E2-DFBF-0088-6997E86C9FE1}"/>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23623159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2917382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1.0 WAVEGUIDES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1.0. </a:t>
            </a:r>
            <a:r>
              <a:rPr lang="es-ES" sz="3200" b="1" dirty="0" err="1">
                <a:latin typeface="Lucida Sans"/>
                <a:cs typeface="Lucida Sans"/>
              </a:rPr>
              <a:t>Waveguides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https://github.com/cccanvas-upv/cifoin-lab1.git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WAVEGUIDES_Student.ipynb</a:t>
            </a:r>
            <a:r>
              <a:rPr lang="en-US" kern="0" dirty="0">
                <a:solidFill>
                  <a:sysClr val="windowText" lastClr="000000"/>
                </a:solidFill>
              </a:rPr>
              <a:t> </a:t>
            </a:r>
          </a:p>
          <a:p>
            <a:pPr algn="just"/>
            <a:endParaRPr lang="en-US" sz="2000" b="1" i="1" u="sng" dirty="0"/>
          </a:p>
          <a:p>
            <a:pPr algn="just"/>
            <a:endParaRPr lang="en-US" sz="2000" kern="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902765"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97" name="object 62">
            <a:extLst>
              <a:ext uri="{FF2B5EF4-FFF2-40B4-BE49-F238E27FC236}">
                <a16:creationId xmlns:a16="http://schemas.microsoft.com/office/drawing/2014/main" id="{13E0425E-CEDF-CBC4-B34B-0CC3951920EA}"/>
              </a:ext>
            </a:extLst>
          </p:cNvPr>
          <p:cNvSpPr/>
          <p:nvPr/>
        </p:nvSpPr>
        <p:spPr>
          <a:xfrm>
            <a:off x="1747061" y="3983757"/>
            <a:ext cx="76200" cy="986155"/>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091131" y="4210910"/>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endParaRPr sz="1400">
              <a:latin typeface="Calibri"/>
              <a:cs typeface="Calibri"/>
            </a:endParaRP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endParaRPr sz="1400">
              <a:latin typeface="Calibri"/>
              <a:cs typeface="Calibri"/>
            </a:endParaRPr>
          </a:p>
        </p:txBody>
      </p:sp>
      <p:sp>
        <p:nvSpPr>
          <p:cNvPr id="99" name="object 64">
            <a:extLst>
              <a:ext uri="{FF2B5EF4-FFF2-40B4-BE49-F238E27FC236}">
                <a16:creationId xmlns:a16="http://schemas.microsoft.com/office/drawing/2014/main" id="{ABAAA5DD-56CA-BF94-2180-F0866658B6B3}"/>
              </a:ext>
            </a:extLst>
          </p:cNvPr>
          <p:cNvSpPr/>
          <p:nvPr/>
        </p:nvSpPr>
        <p:spPr>
          <a:xfrm>
            <a:off x="1984805"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504743" y="3532730"/>
            <a:ext cx="733425" cy="240029"/>
          </a:xfrm>
          <a:prstGeom prst="rect">
            <a:avLst/>
          </a:prstGeom>
        </p:spPr>
        <p:txBody>
          <a:bodyPr vert="horz" wrap="square" lIns="0" tIns="13335" rIns="0" bIns="0" rtlCol="0">
            <a:spAutoFit/>
          </a:bodyPr>
          <a:lstStyle/>
          <a:p>
            <a:pPr>
              <a:lnSpc>
                <a:spcPct val="100000"/>
              </a:lnSpc>
              <a:spcBef>
                <a:spcPts val="105"/>
              </a:spcBef>
            </a:pPr>
            <a:r>
              <a:rPr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1984805"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3983988"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391400"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114" name="object 64">
            <a:extLst>
              <a:ext uri="{FF2B5EF4-FFF2-40B4-BE49-F238E27FC236}">
                <a16:creationId xmlns:a16="http://schemas.microsoft.com/office/drawing/2014/main" id="{D9E5D738-CA47-1898-E0D8-DFBC514F5A50}"/>
              </a:ext>
            </a:extLst>
          </p:cNvPr>
          <p:cNvSpPr/>
          <p:nvPr/>
        </p:nvSpPr>
        <p:spPr>
          <a:xfrm>
            <a:off x="8473440"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93378" y="3532730"/>
            <a:ext cx="733425" cy="240029"/>
          </a:xfrm>
          <a:prstGeom prst="rect">
            <a:avLst/>
          </a:prstGeom>
        </p:spPr>
        <p:txBody>
          <a:bodyPr vert="horz" wrap="square" lIns="0" tIns="13335" rIns="0" bIns="0" rtlCol="0">
            <a:spAutoFit/>
          </a:bodyPr>
          <a:lstStyle/>
          <a:p>
            <a:pPr>
              <a:lnSpc>
                <a:spcPct val="100000"/>
              </a:lnSpc>
              <a:spcBef>
                <a:spcPts val="105"/>
              </a:spcBef>
            </a:pPr>
            <a:r>
              <a:rPr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8473440"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10472623"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20" name="object 73">
            <a:extLst>
              <a:ext uri="{FF2B5EF4-FFF2-40B4-BE49-F238E27FC236}">
                <a16:creationId xmlns:a16="http://schemas.microsoft.com/office/drawing/2014/main" id="{C699977C-9138-F9B9-E43D-0CCB01AEB75F}"/>
              </a:ext>
            </a:extLst>
          </p:cNvPr>
          <p:cNvSpPr txBox="1"/>
          <p:nvPr/>
        </p:nvSpPr>
        <p:spPr>
          <a:xfrm>
            <a:off x="7391400" y="4690819"/>
            <a:ext cx="39061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lang="es-ES" sz="2350" dirty="0">
              <a:latin typeface="Times New Roman"/>
              <a:cs typeface="Times New Roman"/>
            </a:endParaRPr>
          </a:p>
          <a:p>
            <a:pPr marL="18415">
              <a:lnSpc>
                <a:spcPct val="100000"/>
              </a:lnSpc>
            </a:pPr>
            <a:r>
              <a:rPr lang="es-ES" sz="1600" b="1" spc="-10" dirty="0" err="1">
                <a:latin typeface="Calibri"/>
                <a:cs typeface="Calibri"/>
              </a:rPr>
              <a:t>Slab</a:t>
            </a:r>
            <a:endParaRPr sz="1600" dirty="0">
              <a:latin typeface="Calibri"/>
              <a:cs typeface="Calibri"/>
            </a:endParaRPr>
          </a:p>
        </p:txBody>
      </p:sp>
      <p:sp>
        <p:nvSpPr>
          <p:cNvPr id="112" name="object 62">
            <a:extLst>
              <a:ext uri="{FF2B5EF4-FFF2-40B4-BE49-F238E27FC236}">
                <a16:creationId xmlns:a16="http://schemas.microsoft.com/office/drawing/2014/main" id="{04561701-4B4F-F208-98F6-2DAB5C1138D3}"/>
              </a:ext>
            </a:extLst>
          </p:cNvPr>
          <p:cNvSpPr/>
          <p:nvPr/>
        </p:nvSpPr>
        <p:spPr>
          <a:xfrm>
            <a:off x="8575910" y="3994221"/>
            <a:ext cx="56259" cy="694989"/>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1" name="object 62">
            <a:extLst>
              <a:ext uri="{FF2B5EF4-FFF2-40B4-BE49-F238E27FC236}">
                <a16:creationId xmlns:a16="http://schemas.microsoft.com/office/drawing/2014/main" id="{CCA3B0D6-0C9E-B4A6-FA43-1AB5F1821674}"/>
              </a:ext>
            </a:extLst>
          </p:cNvPr>
          <p:cNvSpPr/>
          <p:nvPr/>
        </p:nvSpPr>
        <p:spPr>
          <a:xfrm>
            <a:off x="8233207" y="4689210"/>
            <a:ext cx="55008" cy="613272"/>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13" name="object 63">
            <a:extLst>
              <a:ext uri="{FF2B5EF4-FFF2-40B4-BE49-F238E27FC236}">
                <a16:creationId xmlns:a16="http://schemas.microsoft.com/office/drawing/2014/main" id="{6394166D-0522-24AD-E666-39FE8A3FDC24}"/>
              </a:ext>
            </a:extLst>
          </p:cNvPr>
          <p:cNvSpPr txBox="1"/>
          <p:nvPr/>
        </p:nvSpPr>
        <p:spPr>
          <a:xfrm>
            <a:off x="8351994" y="4887127"/>
            <a:ext cx="674053" cy="228909"/>
          </a:xfrm>
          <a:prstGeom prst="rect">
            <a:avLst/>
          </a:prstGeom>
        </p:spPr>
        <p:txBody>
          <a:bodyPr vert="horz" wrap="square" lIns="0" tIns="13335" rIns="0" bIns="0" rtlCol="0">
            <a:spAutoFit/>
          </a:bodyPr>
          <a:lstStyle/>
          <a:p>
            <a:pPr marR="3175">
              <a:lnSpc>
                <a:spcPct val="100000"/>
              </a:lnSpc>
              <a:spcBef>
                <a:spcPts val="105"/>
              </a:spcBef>
            </a:pPr>
            <a:r>
              <a:rPr lang="es-ES" sz="1400" dirty="0" err="1">
                <a:latin typeface="Calibri"/>
                <a:cs typeface="Calibri"/>
              </a:rPr>
              <a:t>h_slab</a:t>
            </a:r>
            <a:endParaRPr sz="1400" dirty="0">
              <a:latin typeface="Calibri"/>
              <a:cs typeface="Calibri"/>
            </a:endParaRPr>
          </a:p>
        </p:txBody>
      </p:sp>
      <p:sp>
        <p:nvSpPr>
          <p:cNvPr id="122" name="object 63">
            <a:extLst>
              <a:ext uri="{FF2B5EF4-FFF2-40B4-BE49-F238E27FC236}">
                <a16:creationId xmlns:a16="http://schemas.microsoft.com/office/drawing/2014/main" id="{B589EB7D-B26E-4239-A5C2-F96DBBE82162}"/>
              </a:ext>
            </a:extLst>
          </p:cNvPr>
          <p:cNvSpPr txBox="1"/>
          <p:nvPr/>
        </p:nvSpPr>
        <p:spPr>
          <a:xfrm>
            <a:off x="8706378" y="3990085"/>
            <a:ext cx="1380175" cy="228909"/>
          </a:xfrm>
          <a:prstGeom prst="rect">
            <a:avLst/>
          </a:prstGeom>
        </p:spPr>
        <p:txBody>
          <a:bodyPr vert="horz" wrap="square" lIns="0" tIns="13335" rIns="0" bIns="0" rtlCol="0">
            <a:spAutoFit/>
          </a:bodyPr>
          <a:lstStyle/>
          <a:p>
            <a:pPr marR="3175">
              <a:lnSpc>
                <a:spcPct val="100000"/>
              </a:lnSpc>
              <a:spcBef>
                <a:spcPts val="105"/>
              </a:spcBef>
            </a:pPr>
            <a:r>
              <a:rPr lang="es-ES" sz="1400" spc="-10" dirty="0" err="1">
                <a:latin typeface="Calibri"/>
                <a:cs typeface="Calibri"/>
              </a:rPr>
              <a:t>h_core</a:t>
            </a:r>
            <a:r>
              <a:rPr lang="es-ES" sz="1400" spc="-10" dirty="0">
                <a:latin typeface="Calibri"/>
                <a:cs typeface="Calibri"/>
              </a:rPr>
              <a:t> </a:t>
            </a:r>
            <a:endParaRPr sz="140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9306491" y="5257071"/>
            <a:ext cx="1980542" cy="369332"/>
          </a:xfrm>
          <a:prstGeom prst="rect">
            <a:avLst/>
          </a:prstGeom>
          <a:noFill/>
        </p:spPr>
        <p:txBody>
          <a:bodyPr wrap="none" rtlCol="0">
            <a:spAutoFit/>
          </a:bodyPr>
          <a:lstStyle/>
          <a:p>
            <a:pPr algn="ctr"/>
            <a:r>
              <a:rPr lang="en-US" b="1" dirty="0"/>
              <a:t>shallow</a:t>
            </a:r>
            <a:r>
              <a:rPr lang="en-US" dirty="0"/>
              <a:t> waveguide</a:t>
            </a:r>
          </a:p>
        </p:txBody>
      </p:sp>
      <p:sp>
        <p:nvSpPr>
          <p:cNvPr id="8" name="CuadroTexto 7">
            <a:extLst>
              <a:ext uri="{FF2B5EF4-FFF2-40B4-BE49-F238E27FC236}">
                <a16:creationId xmlns:a16="http://schemas.microsoft.com/office/drawing/2014/main" id="{7336B5D8-2D70-3E7A-336D-AF55EC49DEB8}"/>
              </a:ext>
            </a:extLst>
          </p:cNvPr>
          <p:cNvSpPr txBox="1"/>
          <p:nvPr/>
        </p:nvSpPr>
        <p:spPr>
          <a:xfrm>
            <a:off x="2969899" y="5257071"/>
            <a:ext cx="2157554" cy="369332"/>
          </a:xfrm>
          <a:prstGeom prst="rect">
            <a:avLst/>
          </a:prstGeom>
          <a:noFill/>
        </p:spPr>
        <p:txBody>
          <a:bodyPr wrap="square">
            <a:spAutoFit/>
          </a:bodyPr>
          <a:lstStyle/>
          <a:p>
            <a:pPr algn="ctr"/>
            <a:r>
              <a:rPr lang="en-US" b="1" dirty="0"/>
              <a:t>deep</a:t>
            </a:r>
            <a:r>
              <a:rPr lang="en-US" dirty="0"/>
              <a:t> waveguide</a:t>
            </a:r>
          </a:p>
        </p:txBody>
      </p:sp>
    </p:spTree>
    <p:extLst>
      <p:ext uri="{BB962C8B-B14F-4D97-AF65-F5344CB8AC3E}">
        <p14:creationId xmlns:p14="http://schemas.microsoft.com/office/powerpoint/2010/main" val="473922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Effective index of a waveguide</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materials, output, results.</a:t>
            </a:r>
          </a:p>
          <a:p>
            <a:pPr marL="342900" indent="-342900" algn="just">
              <a:buFont typeface="Arial" panose="020B0604020202020204" pitchFamily="34" charset="0"/>
              <a:buChar char="•"/>
            </a:pPr>
            <a:r>
              <a:rPr lang="en-US" sz="2000" dirty="0"/>
              <a:t>Explain how to run a simulation for a particular cross-section. </a:t>
            </a:r>
          </a:p>
          <a:p>
            <a:pPr marL="342900" indent="-342900" algn="just">
              <a:buFont typeface="Arial" panose="020B0604020202020204" pitchFamily="34" charset="0"/>
              <a:buChar char="•"/>
            </a:pPr>
            <a:r>
              <a:rPr lang="en-US" sz="2000" dirty="0"/>
              <a:t>Showcase how to change between shallow and deep waveguide.</a:t>
            </a:r>
          </a:p>
          <a:p>
            <a:pPr marL="342900" indent="-342900" algn="just">
              <a:buFont typeface="Arial" panose="020B0604020202020204" pitchFamily="34" charset="0"/>
              <a:buChar char="•"/>
            </a:pPr>
            <a:r>
              <a:rPr lang="en-US" sz="2000" dirty="0"/>
              <a:t>Describe how to change the wavelength and width for the waveguide analysis.</a:t>
            </a:r>
          </a:p>
          <a:p>
            <a:pPr marL="342900" indent="-342900" algn="just">
              <a:buFont typeface="Arial" panose="020B0604020202020204" pitchFamily="34" charset="0"/>
              <a:buChar char="•"/>
            </a:pPr>
            <a:r>
              <a:rPr lang="en-US" sz="2000" dirty="0"/>
              <a:t>Describe the outputs.</a:t>
            </a:r>
          </a:p>
          <a:p>
            <a:pPr marL="0" indent="0" algn="just">
              <a:buNone/>
            </a:pPr>
            <a:r>
              <a:rPr lang="en-US" sz="2000" b="1" dirty="0"/>
              <a:t>ALL EXAMPLE #1: </a:t>
            </a:r>
            <a:r>
              <a:rPr lang="en-US" sz="2000" dirty="0"/>
              <a:t>waveguide width 1.2 µm, deep </a:t>
            </a:r>
            <a:r>
              <a:rPr lang="en-US" sz="2000" dirty="0" err="1"/>
              <a:t>wvg</a:t>
            </a:r>
            <a:r>
              <a:rPr lang="en-US" sz="2000" dirty="0"/>
              <a:t>, wavelength start and end same 1.55 µm </a:t>
            </a:r>
            <a:r>
              <a:rPr lang="en-US" sz="2000" dirty="0">
                <a:sym typeface="Wingdings" pitchFamily="2" charset="2"/>
              </a:rPr>
              <a:t> all ”Run”</a:t>
            </a:r>
            <a:endParaRPr lang="en-US" sz="2000" dirty="0"/>
          </a:p>
          <a:p>
            <a:pPr marL="0" indent="0" algn="just">
              <a:buNone/>
            </a:pPr>
            <a:r>
              <a:rPr lang="en-US" sz="2000" b="1" dirty="0"/>
              <a:t>ALL: </a:t>
            </a:r>
            <a:r>
              <a:rPr lang="en-US" sz="2000" dirty="0"/>
              <a:t>Follow</a:t>
            </a:r>
            <a:r>
              <a:rPr lang="en-US" sz="2000" b="1" dirty="0"/>
              <a:t> </a:t>
            </a:r>
            <a:r>
              <a:rPr lang="en-US" sz="2000" dirty="0"/>
              <a:t>instructor, that will show how to 1) plot mode, 2) explore the results (neff …)</a:t>
            </a:r>
          </a:p>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D0F8CF3B-B920-DBFC-F825-0C87B51EADA7}"/>
              </a:ext>
            </a:extLst>
          </p:cNvPr>
          <p:cNvSpPr txBox="1"/>
          <p:nvPr/>
        </p:nvSpPr>
        <p:spPr>
          <a:xfrm>
            <a:off x="545015" y="4419600"/>
            <a:ext cx="11199971" cy="1569660"/>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t>For a deep waveguide with width 1.2 µm at λ = 1.55 µm, several guided modes are supported. The fundamental mode shows the highest effective index, which indicates the strongest confinement inside the core. Higher-order modes present lower </a:t>
            </a:r>
            <a:r>
              <a:rPr lang="en-US" sz="1200" dirty="0" err="1"/>
              <a:t>neff</a:t>
            </a:r>
            <a:r>
              <a:rPr lang="en-US" sz="1200" dirty="0"/>
              <a:t> values because a larger fraction of the field extends into the cladding. The field profiles confirm that the fundamental mode is more concentrated in the waveguide core, while higher-order modes are less confined and more spread out. In addition, the different polarizations show different effective indices, proving that the waveguide is birefringent and that TE and TM modes propagate differently for the same geometry.</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Wavelength behavior</a:t>
            </a:r>
            <a:br>
              <a:rPr lang="es-ES" sz="2500" spc="-5" dirty="0">
                <a:latin typeface="+mj-lt"/>
                <a:cs typeface="Lucida Sans"/>
              </a:rPr>
            </a:br>
            <a:r>
              <a:rPr lang="en-US" b="0" dirty="0"/>
              <a:t>Wavelength 1.5-1.6 µm (step 0.01 µm) – width 1.2 µm</a:t>
            </a:r>
            <a:endParaRPr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t>For both shallow and deep waveguides, the effective index decreases as the wavelength increases from 1.50 µm to 1.60 µm. This behavior is expected because at longer wavelengths the optical field becomes less confined in the core and extends more into the cladding, reducing </a:t>
            </a:r>
            <a:r>
              <a:rPr lang="en-US" sz="1200" dirty="0" err="1"/>
              <a:t>neff</a:t>
            </a:r>
            <a:r>
              <a:rPr lang="en-US" sz="1200" dirty="0"/>
              <a:t>. The shallow waveguide shows higher </a:t>
            </a:r>
            <a:r>
              <a:rPr lang="en-US" sz="1200" dirty="0" err="1"/>
              <a:t>neff</a:t>
            </a:r>
            <a:r>
              <a:rPr lang="en-US" sz="1200" dirty="0"/>
              <a:t> values for the upper modes than the deep waveguide in the plotted comparison, while the deep waveguide shows lower values for some higher-order modes. In all cases, mode 0 remains the most confined mode and therefore has the highest effective index. The separation between modes also shows that the waveguide cross-section strongly affects modal confinement and dispersion behavior.</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88F19863-7091-B8CA-F848-DBEA5CEEA027}"/>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ángulo 6">
            <a:extLst>
              <a:ext uri="{FF2B5EF4-FFF2-40B4-BE49-F238E27FC236}">
                <a16:creationId xmlns:a16="http://schemas.microsoft.com/office/drawing/2014/main" id="{21F754A5-65BC-14A3-5F55-75716FFA9027}"/>
              </a:ext>
            </a:extLst>
          </p:cNvPr>
          <p:cNvSpPr/>
          <p:nvPr/>
        </p:nvSpPr>
        <p:spPr>
          <a:xfrm>
            <a:off x="64768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8BD4C233-B5D9-B6AA-93A8-CF2F130CFF9C}"/>
              </a:ext>
            </a:extLst>
          </p:cNvPr>
          <p:cNvSpPr txBox="1"/>
          <p:nvPr/>
        </p:nvSpPr>
        <p:spPr>
          <a:xfrm>
            <a:off x="642989" y="4402885"/>
            <a:ext cx="2269787" cy="369332"/>
          </a:xfrm>
          <a:prstGeom prst="rect">
            <a:avLst/>
          </a:prstGeom>
          <a:noFill/>
        </p:spPr>
        <p:txBody>
          <a:bodyPr wrap="square">
            <a:spAutoFit/>
          </a:bodyPr>
          <a:lstStyle/>
          <a:p>
            <a:r>
              <a:rPr lang="en-US"/>
              <a:t>slab </a:t>
            </a:r>
            <a:r>
              <a:rPr lang="en-US" dirty="0"/>
              <a:t>= 150nm</a:t>
            </a:r>
            <a:endParaRPr lang="es-ES" dirty="0"/>
          </a:p>
        </p:txBody>
      </p:sp>
      <p:pic>
        <p:nvPicPr>
          <p:cNvPr id="12" name="Imagen 11">
            <a:extLst>
              <a:ext uri="{FF2B5EF4-FFF2-40B4-BE49-F238E27FC236}">
                <a16:creationId xmlns:a16="http://schemas.microsoft.com/office/drawing/2014/main" id="{75641DD1-DBE2-2241-6A76-88F775C86AEA}"/>
              </a:ext>
            </a:extLst>
          </p:cNvPr>
          <p:cNvPicPr>
            <a:picLocks noChangeAspect="1"/>
          </p:cNvPicPr>
          <p:nvPr/>
        </p:nvPicPr>
        <p:blipFill>
          <a:blip r:embed="rId5"/>
          <a:stretch>
            <a:fillRect/>
          </a:stretch>
        </p:blipFill>
        <p:spPr>
          <a:xfrm>
            <a:off x="6585017" y="1598200"/>
            <a:ext cx="5116217" cy="2984461"/>
          </a:xfrm>
          <a:prstGeom prst="rect">
            <a:avLst/>
          </a:prstGeom>
        </p:spPr>
      </p:pic>
      <p:pic>
        <p:nvPicPr>
          <p:cNvPr id="14" name="Imagen 13">
            <a:extLst>
              <a:ext uri="{FF2B5EF4-FFF2-40B4-BE49-F238E27FC236}">
                <a16:creationId xmlns:a16="http://schemas.microsoft.com/office/drawing/2014/main" id="{A7A2E7B2-A716-F804-A704-25AEA8F4C381}"/>
              </a:ext>
            </a:extLst>
          </p:cNvPr>
          <p:cNvPicPr>
            <a:picLocks noChangeAspect="1"/>
          </p:cNvPicPr>
          <p:nvPr/>
        </p:nvPicPr>
        <p:blipFill>
          <a:blip r:embed="rId6"/>
          <a:stretch>
            <a:fillRect/>
          </a:stretch>
        </p:blipFill>
        <p:spPr>
          <a:xfrm>
            <a:off x="642988" y="1475527"/>
            <a:ext cx="5148211" cy="3003123"/>
          </a:xfrm>
          <a:prstGeom prst="rect">
            <a:avLst/>
          </a:prstGeom>
        </p:spPr>
      </p:pic>
    </p:spTree>
    <p:extLst>
      <p:ext uri="{BB962C8B-B14F-4D97-AF65-F5344CB8AC3E}">
        <p14:creationId xmlns:p14="http://schemas.microsoft.com/office/powerpoint/2010/main" val="3712356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Width dependence</a:t>
            </a:r>
            <a:br>
              <a:rPr lang="es-ES" sz="2500" spc="-5" dirty="0">
                <a:latin typeface="+mj-lt"/>
                <a:cs typeface="Lucida Sans"/>
              </a:rPr>
            </a:br>
            <a:r>
              <a:rPr lang="en-US" b="0" dirty="0"/>
              <a:t>Width 0.6 - 1.6 µm (step 0.1 µm) – Wavelength 1.55 µm </a:t>
            </a:r>
            <a:endParaRPr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t>The effective index increases with waveguide width for all modes. As the width becomes larger, the optical field is better confined inside the core, which produces higher </a:t>
            </a:r>
            <a:r>
              <a:rPr lang="en-US" sz="1200" dirty="0" err="1"/>
              <a:t>neff</a:t>
            </a:r>
            <a:r>
              <a:rPr lang="en-US" sz="1200" dirty="0"/>
              <a:t> values. This increase is stronger for the fundamental mode and becomes more noticeable as the width exceeds about 1.0 µm. The graph also shows that wider waveguides support more guided modes, since higher-order modes become more clearly separated from the SiO2 index line. Regarding polarization behavior, the TE fraction indicates that some modes are predominantly TE-like while others are more TM-like, confirming that polarization depends on geometry and modal order. Therefore, waveguide width is a key parameter to control confinement, modal content, and polarization response.</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FAC69F11-63B9-DC0E-C807-12D3B73BFF4C}"/>
              </a:ext>
            </a:extLst>
          </p:cNvPr>
          <p:cNvPicPr>
            <a:picLocks noChangeAspect="1"/>
          </p:cNvPicPr>
          <p:nvPr/>
        </p:nvPicPr>
        <p:blipFill>
          <a:blip r:embed="rId5"/>
          <a:stretch>
            <a:fillRect/>
          </a:stretch>
        </p:blipFill>
        <p:spPr>
          <a:xfrm>
            <a:off x="3467100" y="1512170"/>
            <a:ext cx="5257800" cy="3060791"/>
          </a:xfrm>
          <a:prstGeom prst="rect">
            <a:avLst/>
          </a:prstGeom>
        </p:spPr>
      </p:pic>
    </p:spTree>
    <p:extLst>
      <p:ext uri="{BB962C8B-B14F-4D97-AF65-F5344CB8AC3E}">
        <p14:creationId xmlns:p14="http://schemas.microsoft.com/office/powerpoint/2010/main" val="29001174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DA0F9-B230-D9FC-3CE7-03BD08CF54F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94400B4-EE16-8E85-AB54-E82FE3B29345}"/>
              </a:ext>
            </a:extLst>
          </p:cNvPr>
          <p:cNvSpPr txBox="1">
            <a:spLocks noGrp="1"/>
          </p:cNvSpPr>
          <p:nvPr>
            <p:ph type="title"/>
          </p:nvPr>
        </p:nvSpPr>
        <p:spPr>
          <a:xfrm>
            <a:off x="685800" y="408883"/>
            <a:ext cx="10994410" cy="1397819"/>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Waveguide compact model</a:t>
            </a:r>
            <a:br>
              <a:rPr lang="en-US" sz="2500" spc="-5" dirty="0">
                <a:latin typeface="+mj-lt"/>
                <a:cs typeface="Lucida Sans"/>
              </a:rPr>
            </a:br>
            <a:r>
              <a:rPr lang="en-US" b="0" dirty="0"/>
              <a:t>- Find the compact models of the following waveguides: </a:t>
            </a:r>
            <a:br>
              <a:rPr lang="en-US" b="0" dirty="0"/>
            </a:br>
            <a:r>
              <a:rPr lang="en-US" dirty="0"/>
              <a:t>Deep</a:t>
            </a:r>
            <a:r>
              <a:rPr lang="en-US" b="0" dirty="0"/>
              <a:t> waveguide, h=300nm, w=1.2um   - </a:t>
            </a:r>
            <a:r>
              <a:rPr lang="en-US" dirty="0"/>
              <a:t>Shallow</a:t>
            </a:r>
            <a:r>
              <a:rPr lang="en-US" b="0" dirty="0"/>
              <a:t> waveguide, core h=300nm, slab h=150 nm, w = 1.2um </a:t>
            </a:r>
            <a:br>
              <a:rPr lang="en-US" b="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4D53B68D-17ED-7EFB-F2B4-10DA7A772E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9AB8697-C1EE-6E9A-6550-ACA2C3AE6630}"/>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970D4A6C-5B37-EDF5-6242-74B16127E96B}"/>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A440F587-93A3-E474-C0B0-883BB9DAFD85}"/>
              </a:ext>
            </a:extLst>
          </p:cNvPr>
          <p:cNvSpPr txBox="1"/>
          <p:nvPr/>
        </p:nvSpPr>
        <p:spPr>
          <a:xfrm>
            <a:off x="609441" y="4860334"/>
            <a:ext cx="11198542"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t>The </a:t>
            </a:r>
            <a:r>
              <a:rPr lang="en-US" sz="1200" dirty="0" err="1"/>
              <a:t>neff</a:t>
            </a:r>
            <a:r>
              <a:rPr lang="en-US" sz="1200" dirty="0"/>
              <a:t> versus wavelength curves for both TE0 and TM0 can be well approximated by a second-degree polynomial, which makes it possible to build a compact model of the waveguide. In both deep and shallow waveguides, </a:t>
            </a:r>
            <a:r>
              <a:rPr lang="en-US" sz="1200" dirty="0" err="1"/>
              <a:t>neff</a:t>
            </a:r>
            <a:r>
              <a:rPr lang="en-US" sz="1200" dirty="0"/>
              <a:t> decreases almost linearly with wavelength, while the small curvature of the fit is related to chromatic dispersion. TE0 always has a higher effective index than TM0, which means that the TE fundamental mode is more strongly confined. In addition, the shallow waveguide presents slightly higher </a:t>
            </a:r>
            <a:r>
              <a:rPr lang="en-US" sz="1200" dirty="0" err="1"/>
              <a:t>neff</a:t>
            </a:r>
            <a:r>
              <a:rPr lang="en-US" sz="1200" dirty="0"/>
              <a:t> values than the deep one for both polarizations in the shown plots. From the polynomial coefficients, the first-order term is directly related to the group index, while the second-order term is related to the dispersion parameter D. Since the curvature is small, dispersion is moderate in the analyzed wavelength range, but it is still important for compact modeling and photonic circuit design.</a:t>
            </a:r>
            <a:endParaRPr lang="en-US" sz="120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A6B92C76-6772-2E00-346F-532321092C0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2886628E-6E58-1F7E-B6C6-432B9A22839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0F38E924-A0E7-A039-C837-916BA77FE89B}"/>
              </a:ext>
            </a:extLst>
          </p:cNvPr>
          <p:cNvSpPr txBox="1"/>
          <p:nvPr/>
        </p:nvSpPr>
        <p:spPr>
          <a:xfrm>
            <a:off x="6347361" y="4498712"/>
            <a:ext cx="5486560" cy="276999"/>
          </a:xfrm>
          <a:prstGeom prst="rect">
            <a:avLst/>
          </a:prstGeom>
          <a:noFill/>
        </p:spPr>
        <p:txBody>
          <a:bodyPr wrap="square">
            <a:spAutoFit/>
          </a:bodyPr>
          <a:lstStyle/>
          <a:p>
            <a:pPr algn="r"/>
            <a:r>
              <a:rPr lang="en-US" sz="1200" b="1" dirty="0">
                <a:solidFill>
                  <a:schemeClr val="tx1"/>
                </a:solidFill>
                <a:latin typeface="Arial" panose="020B0604020202020204" pitchFamily="34" charset="0"/>
                <a:cs typeface="Arial" panose="020B0604020202020204" pitchFamily="34" charset="0"/>
              </a:rPr>
              <a:t>slab: 150nm</a:t>
            </a:r>
            <a:endParaRPr lang="en-US" sz="1200" dirty="0">
              <a:solidFill>
                <a:schemeClr val="tx1"/>
              </a:solidFill>
              <a:latin typeface="Arial" panose="020B0604020202020204" pitchFamily="34" charset="0"/>
              <a:cs typeface="Arial" panose="020B0604020202020204" pitchFamily="34" charset="0"/>
            </a:endParaRPr>
          </a:p>
        </p:txBody>
      </p:sp>
      <p:pic>
        <p:nvPicPr>
          <p:cNvPr id="7" name="Imagen 6">
            <a:extLst>
              <a:ext uri="{FF2B5EF4-FFF2-40B4-BE49-F238E27FC236}">
                <a16:creationId xmlns:a16="http://schemas.microsoft.com/office/drawing/2014/main" id="{8307112D-2560-ADBC-C888-8B358810CD88}"/>
              </a:ext>
            </a:extLst>
          </p:cNvPr>
          <p:cNvPicPr>
            <a:picLocks noChangeAspect="1"/>
          </p:cNvPicPr>
          <p:nvPr/>
        </p:nvPicPr>
        <p:blipFill>
          <a:blip r:embed="rId5"/>
          <a:stretch>
            <a:fillRect/>
          </a:stretch>
        </p:blipFill>
        <p:spPr>
          <a:xfrm>
            <a:off x="1295400" y="1635841"/>
            <a:ext cx="3949016" cy="3085874"/>
          </a:xfrm>
          <a:prstGeom prst="rect">
            <a:avLst/>
          </a:prstGeom>
        </p:spPr>
      </p:pic>
      <p:pic>
        <p:nvPicPr>
          <p:cNvPr id="12" name="Imagen 11">
            <a:extLst>
              <a:ext uri="{FF2B5EF4-FFF2-40B4-BE49-F238E27FC236}">
                <a16:creationId xmlns:a16="http://schemas.microsoft.com/office/drawing/2014/main" id="{E9F268D6-542B-A11F-B67A-5D000D3AA727}"/>
              </a:ext>
            </a:extLst>
          </p:cNvPr>
          <p:cNvPicPr>
            <a:picLocks noChangeAspect="1"/>
          </p:cNvPicPr>
          <p:nvPr/>
        </p:nvPicPr>
        <p:blipFill>
          <a:blip r:embed="rId6"/>
          <a:stretch>
            <a:fillRect/>
          </a:stretch>
        </p:blipFill>
        <p:spPr>
          <a:xfrm>
            <a:off x="6670158" y="1607770"/>
            <a:ext cx="3821318" cy="2986087"/>
          </a:xfrm>
          <a:prstGeom prst="rect">
            <a:avLst/>
          </a:prstGeom>
        </p:spPr>
      </p:pic>
    </p:spTree>
    <p:extLst>
      <p:ext uri="{BB962C8B-B14F-4D97-AF65-F5344CB8AC3E}">
        <p14:creationId xmlns:p14="http://schemas.microsoft.com/office/powerpoint/2010/main" val="2360544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#5 – Bend waveguide radius vs. loss – deep</a:t>
            </a:r>
            <a:br>
              <a:rPr lang="en-US" sz="2500" dirty="0"/>
            </a:br>
            <a:r>
              <a:rPr lang="en-US" b="0" dirty="0"/>
              <a:t>Find  neff_TE0 for </a:t>
            </a:r>
            <a:r>
              <a:rPr lang="en-US" b="0" dirty="0" err="1"/>
              <a:t>wvl</a:t>
            </a:r>
            <a:r>
              <a:rPr lang="en-US" b="0" dirty="0"/>
              <a:t> 1.55 µm, width 1.2 µm for R=25,50,75,100, 125,150 µm</a:t>
            </a: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FDE3A197-9508-F9F1-1FEB-FF883D78C151}"/>
              </a:ext>
            </a:extLst>
          </p:cNvPr>
          <p:cNvSpPr txBox="1"/>
          <p:nvPr/>
        </p:nvSpPr>
        <p:spPr>
          <a:xfrm>
            <a:off x="609441" y="4860334"/>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t>The bend loss decreases sharply as the bend radius increases. For small radii, especially around 25–50 µm, the total loss is significantly higher because radiation loss is dominant. As the radius increases, mode loss decreases rapidly, while propagation loss increases slightly, resulting in a minimum, then a gradual increase in total loss. According to the graph, the total loss is clearly below 0.1 dB/90º from about 50 µm onward, so this can be considered a safe bend radius. A radius of 75 µm or more would be a more conservative design choice because it provides lower loss and more stable behavior. The neff_TE0 also decreases slightly with increasing bend radius and then tends to stabilize, which indicates that curvature has a stronger effect at small radii and becomes negligible for large-radius bends.</a:t>
            </a:r>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B5FE8755-B0BF-14B7-64E6-4BBB2560B9A6}"/>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FDCC138F-0E01-FB8C-A0CA-0CD37243FE56}"/>
              </a:ext>
            </a:extLst>
          </p:cNvPr>
          <p:cNvPicPr>
            <a:picLocks noChangeAspect="1"/>
          </p:cNvPicPr>
          <p:nvPr/>
        </p:nvPicPr>
        <p:blipFill>
          <a:blip r:embed="rId5"/>
          <a:stretch>
            <a:fillRect/>
          </a:stretch>
        </p:blipFill>
        <p:spPr>
          <a:xfrm>
            <a:off x="1752600" y="1525506"/>
            <a:ext cx="3884156" cy="3068213"/>
          </a:xfrm>
          <a:prstGeom prst="rect">
            <a:avLst/>
          </a:prstGeom>
        </p:spPr>
      </p:pic>
      <p:pic>
        <p:nvPicPr>
          <p:cNvPr id="9" name="Imagen 8">
            <a:extLst>
              <a:ext uri="{FF2B5EF4-FFF2-40B4-BE49-F238E27FC236}">
                <a16:creationId xmlns:a16="http://schemas.microsoft.com/office/drawing/2014/main" id="{85F46F58-A989-08EF-DDD6-0133CBD22EFF}"/>
              </a:ext>
            </a:extLst>
          </p:cNvPr>
          <p:cNvPicPr>
            <a:picLocks noChangeAspect="1"/>
          </p:cNvPicPr>
          <p:nvPr/>
        </p:nvPicPr>
        <p:blipFill>
          <a:blip r:embed="rId6"/>
          <a:stretch>
            <a:fillRect/>
          </a:stretch>
        </p:blipFill>
        <p:spPr>
          <a:xfrm>
            <a:off x="6456639" y="1610481"/>
            <a:ext cx="4515170" cy="2955613"/>
          </a:xfrm>
          <a:prstGeom prst="rect">
            <a:avLst/>
          </a:prstGeom>
        </p:spPr>
      </p:pic>
    </p:spTree>
    <p:extLst>
      <p:ext uri="{BB962C8B-B14F-4D97-AF65-F5344CB8AC3E}">
        <p14:creationId xmlns:p14="http://schemas.microsoft.com/office/powerpoint/2010/main" val="36604382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8</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1050</TotalTime>
  <Words>1015</Words>
  <Application>Microsoft Office PowerPoint</Application>
  <PresentationFormat>Panorámica</PresentationFormat>
  <Paragraphs>67</Paragraphs>
  <Slides>8</Slides>
  <Notes>5</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8</vt:i4>
      </vt:variant>
    </vt:vector>
  </HeadingPairs>
  <TitlesOfParts>
    <vt:vector size="15" baseType="lpstr">
      <vt:lpstr>Aptos</vt:lpstr>
      <vt:lpstr>Arial</vt:lpstr>
      <vt:lpstr>Calibri</vt:lpstr>
      <vt:lpstr>Lucida Sans</vt:lpstr>
      <vt:lpstr>Times New Roman</vt:lpstr>
      <vt:lpstr>Wingdings</vt:lpstr>
      <vt:lpstr>Office Theme</vt:lpstr>
      <vt:lpstr>Presentación de PowerPoint</vt:lpstr>
      <vt:lpstr>Instructions General</vt:lpstr>
      <vt:lpstr>Learning outcome #1 – Effective index of a waveguide </vt:lpstr>
      <vt:lpstr>Learning outcome #2 – Wavelength behavior Wavelength 1.5-1.6 µm (step 0.01 µm) – width 1.2 µm</vt:lpstr>
      <vt:lpstr>Learning outcome #3 – Width dependence Width 0.6 - 1.6 µm (step 0.1 µm) – Wavelength 1.55 µm </vt:lpstr>
      <vt:lpstr>Learning outcome #4 – Waveguide compact model - Find the compact models of the following waveguides:  Deep waveguide, h=300nm, w=1.2um   - Shallow waveguide, core h=300nm, slab h=150 nm, w = 1.2um  </vt:lpstr>
      <vt:lpstr>Learning outcome #5 – Bend waveguide radius vs. loss – deep Find  neff_TE0 for wvl 1.55 µm, width 1.2 µm for R=25,50,75,100, 125,150 µm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Salvador Vazquez Desco</cp:lastModifiedBy>
  <cp:revision>11</cp:revision>
  <dcterms:created xsi:type="dcterms:W3CDTF">2025-01-27T02:46:57Z</dcterms:created>
  <dcterms:modified xsi:type="dcterms:W3CDTF">2026-03-15T16:02:55Z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